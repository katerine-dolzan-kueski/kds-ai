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457200"/>
            <a:ext cx="1645920" cy="164592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74320"/>
            <a:ext cx="1645920" cy="1645920"/>
          </a:xfrm>
          <a:prstGeom prst="ellipse">
            <a:avLst/>
          </a:prstGeom>
          <a:solidFill>
            <a:srgbClr val="0069F1">
              <a:alpha val="12000"/>
            </a:srgbClr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291840"/>
            <a:ext cx="1188720" cy="1188720"/>
          </a:xfrm>
          <a:prstGeom prst="ellipse">
            <a:avLst/>
          </a:prstGeom>
          <a:solidFill>
            <a:srgbClr val="6E5BE6">
              <a:alpha val="12000"/>
            </a:srgbClr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KUESKI DESIGN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× AI Native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between design, code, and product context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200400" cy="0"/>
          </a:xfrm>
          <a:prstGeom prst="line">
            <a:avLst/>
          </a:prstGeom>
          <a:noFill/>
          <a:ln w="19050">
            <a:solidFill>
              <a:srgbClr val="006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Design System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93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Katerine Dolzan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topics — one goal: decide what to build, adapt, or buy next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502920" cy="475488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173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41732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AI-readiness matters — and what it actually means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9842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84248"/>
            <a:ext cx="502920" cy="475488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842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198424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we built — 4-step sequence from spec to Figma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551176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551176"/>
            <a:ext cx="502920" cy="47548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5117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55117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solved vs. what's still missing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118104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18104"/>
            <a:ext cx="502920" cy="475488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181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11810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in-house vs. building on Untitled UI — effort estimate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685032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85032"/>
            <a:ext cx="502920" cy="475488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850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68503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Code workflow and the full tooling ecosystem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51960"/>
            <a:ext cx="502920" cy="475488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2519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100% AI-ready + decisions needed today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Set Out to Close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 fail AI tools for the same reason they fail new engineers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8138160" cy="109728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71600"/>
            <a:ext cx="109728" cy="1097280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417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structured context, every design-to-code handoff requires human interpretation.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hallucinate component usage, ignore tokens, and produce inconsistent output."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97480"/>
            <a:ext cx="54864" cy="1874520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machine-readable spec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09067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files are visual, not semantic. AI can't infer prop intent from layers.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69748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697480"/>
            <a:ext cx="54864" cy="1874520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everywhere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09067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codes, px values, hardcoded sizes — no token names for AI to reference.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69748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697480"/>
            <a:ext cx="54864" cy="1874520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≠ Code ≠ Docs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09067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disconnected sources of truth. AI picks whichever is easiest to read.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"AI-Ready" Actually Means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criteria a design system must meet to be fully usable by AI 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" y="1664208"/>
            <a:ext cx="402336" cy="402336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16152" y="14996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Token-native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6152" y="18105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references a named token — no raw hex, px, or rgba.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2834640"/>
            <a:ext cx="402336" cy="402336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16152" y="26700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16152" y="29809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specify intent, usage rules, and accessibility — not just structure.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" y="4005072"/>
            <a:ext cx="402336" cy="402336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16152" y="38404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16152" y="415137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typed, variants named, and structures parseable by code.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1664208"/>
            <a:ext cx="402336" cy="402336"/>
          </a:xfrm>
          <a:prstGeom prst="ellipse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9552" y="14996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9552" y="18105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share a semantic token layer with platform-specific mappings.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54203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10912" y="2834640"/>
            <a:ext cx="402336" cy="402336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9552" y="26700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9552" y="29809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↔ Code ↔ Docs are in sync — single source of truth per component.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71246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10912" y="4005072"/>
            <a:ext cx="402336" cy="40233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◆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59552" y="38404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59552" y="415137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create new components that pass the linter and follow the pattern.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We Built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follows a repeatable 4-step sequence from spec to Figma documentation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1920240" cy="73152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18562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.docs.md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" y="222199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format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→ WEB → FLUTTER)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KDS linter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41448" y="2075688"/>
            <a:ext cx="256032" cy="0"/>
          </a:xfrm>
          <a:prstGeom prst="line">
            <a:avLst/>
          </a:prstGeom>
          <a:noFill/>
          <a:ln w="19050">
            <a:solidFill>
              <a:srgbClr val="66727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606040" y="1938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51760" y="14173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1417320"/>
            <a:ext cx="1920240" cy="73152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61488" y="18562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61488" y="222199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+ CVA styles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forwardRef component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props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90288" y="2075688"/>
            <a:ext cx="256032" cy="0"/>
          </a:xfrm>
          <a:prstGeom prst="line">
            <a:avLst/>
          </a:prstGeom>
          <a:noFill/>
          <a:ln w="19050">
            <a:solidFill>
              <a:srgbClr val="66727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754880" y="1938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00600" y="14173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417320"/>
            <a:ext cx="1920240" cy="7315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0328" y="18562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0328" y="222199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variables bound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Library-ready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39128" y="2075688"/>
            <a:ext cx="256032" cy="0"/>
          </a:xfrm>
          <a:prstGeom prst="line">
            <a:avLst/>
          </a:prstGeom>
          <a:noFill/>
          <a:ln w="19050">
            <a:solidFill>
              <a:srgbClr val="66727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903720" y="1938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9440" y="14173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1417320"/>
            <a:ext cx="1920240" cy="73152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59168" y="18562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Doc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Showcase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59168" y="222199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1440px doc frame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850px showcase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2907792"/>
            <a:ext cx="8138160" cy="0"/>
          </a:xfrm>
          <a:prstGeom prst="line">
            <a:avLst/>
          </a:prstGeom>
          <a:noFill/>
          <a:ln w="12700">
            <a:solidFill>
              <a:srgbClr val="DDE8F2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0292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Underpinning infrastructure: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3310128"/>
            <a:ext cx="1920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310128"/>
            <a:ext cx="54864" cy="1719072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" y="3364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Linter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" y="36576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token name in backticks against tokens.registry.json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51760" y="3310128"/>
            <a:ext cx="1920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10128"/>
            <a:ext cx="54864" cy="1719072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9776" y="3364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Library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79776" y="36576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variables imported by key — fills, spacing, radius, stroke all bound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310128"/>
            <a:ext cx="1920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310128"/>
            <a:ext cx="54864" cy="171907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3364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Figma Plugin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28616" y="36576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reads/writes Figma files directly via figma.variables API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949440" y="3310128"/>
            <a:ext cx="1920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3310128"/>
            <a:ext cx="54864" cy="1719072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77456" y="3364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Registry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77456" y="36576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source: web CSS props, Flutter names, Figma variable keys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Accomplished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built from scratch — components are just the start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89888"/>
            <a:ext cx="1920240" cy="64008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81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· Badge · Chip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1389888"/>
            <a:ext cx="1920240" cy="64008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481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651760" y="2139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487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· Registry · MCP · Variable keys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389888"/>
            <a:ext cx="1920240" cy="6400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81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800600" y="2139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487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enforces zero tolerance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389888"/>
            <a:ext cx="1920240" cy="64008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481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949440" y="2139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vars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2487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fills · padding · radius · stroke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Button-v2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" y="3639312"/>
            <a:ext cx="548640" cy="16459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472184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72184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Badge-v2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36776" y="3639312"/>
            <a:ext cx="548640" cy="16459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36776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41448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41448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06040" y="3639312"/>
            <a:ext cx="548640" cy="16459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410712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0712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75304" y="3639312"/>
            <a:ext cx="548640" cy="164592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75304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379976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9976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44568" y="3639312"/>
            <a:ext cx="548640" cy="164592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44568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349240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513832" y="3639312"/>
            <a:ext cx="548640" cy="164592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13832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18504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83096" y="3639312"/>
            <a:ext cx="548640" cy="164592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83096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287768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87768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52360" y="3639312"/>
            <a:ext cx="548640" cy="164592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257032" y="3364992"/>
            <a:ext cx="877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57032" y="3401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~40+ more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421624" y="3639312"/>
            <a:ext cx="548640" cy="164592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21624" y="3639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02920" y="39319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~50 atoms complete. Molecules and organisms are 0%.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Problems We Solved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critical blockers eliminated — AI can now reliably generate token-correct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4114800" cy="64008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51790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Plugin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↔ AI integration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2128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Figma plugin lets AI read &amp; write Figma directly via the variables API. No screenshot dependency, no manual export.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4114800" cy="6400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51790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enforcement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22128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Linter scans every backtick token in .docs.md against tokens.registry.json. Zero raw values allowed.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200400"/>
            <a:ext cx="4114800" cy="64008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34670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Binding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675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variable binding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0416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 fills, strokes, padding, radius, and gap are bound to KDS Foundations variables — not hardcoded.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320040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200400"/>
            <a:ext cx="4114800" cy="64008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334670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3675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variant logic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83480" y="40416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(Class Variance Authority) pattern makes variant logic typed, composable, and parseable — no more arbitrary class names.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Missing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gaps between current state and a fully AI-ready design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71600"/>
            <a:ext cx="54864" cy="1536192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6304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463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+ Code Connect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1214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component browser. Design → Code sync is still manual today.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1371600"/>
            <a:ext cx="54864" cy="1536192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38728" y="146304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1463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38728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 tokens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38728" y="21214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KDS has no proper token system. Dart approximates until Flutter foundation is built.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08776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8776" y="1371600"/>
            <a:ext cx="54864" cy="1536192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1656" y="146304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1463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91656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coverage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91656" y="21214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of 50+ atoms built. Molecules and organisms at 0%. AI can't compose from missing parts.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06324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063240"/>
            <a:ext cx="54864" cy="1536192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15468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546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5800" y="3447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context 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3813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knows component structure but not "when to use which". Product rules missing.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5848" y="306324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55848" y="3063240"/>
            <a:ext cx="54864" cy="1536192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38728" y="315468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31546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38728" y="3447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harness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38728" y="3813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pipeline to scaffold new components end-to-end from a spec.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08776" y="306324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3063240"/>
            <a:ext cx="54864" cy="1536192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91656" y="315468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31546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91656" y="3447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Multi-theme support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91656" y="3813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has one theme. Products need brand overrides — no theme switching today.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In-House vs. Untitled UI as Foundation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 saves component-building time — not AI-readiness time. Flutter/mobile is a separate effort regardless of which option you pick.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2560320" cy="384048"/>
          </a:xfrm>
          <a:prstGeom prst="rect">
            <a:avLst/>
          </a:prstGeom>
          <a:solidFill>
            <a:srgbClr val="111118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32588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1325880"/>
            <a:ext cx="3154680" cy="384048"/>
          </a:xfrm>
          <a:prstGeom prst="rect">
            <a:avLst/>
          </a:prstGeom>
          <a:solidFill>
            <a:srgbClr val="0069F1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32588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(in-house)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3154680" cy="384048"/>
          </a:xfrm>
          <a:prstGeom prst="rect">
            <a:avLst/>
          </a:prstGeom>
          <a:solidFill>
            <a:srgbClr val="008246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32588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Untitled 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1737360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1737360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Kueski branding &amp;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1737360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1737360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 control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737360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737360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Requires override layer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048256"/>
            <a:ext cx="256032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048256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component count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63240" y="2048256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2048256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atoms today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048256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048256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ready today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359152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2359152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count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2359152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2359152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atoms today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359152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359152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(PRO)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2670048"/>
            <a:ext cx="256032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2670048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.docs.md per component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63240" y="2670048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2670048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Custom .docs.md + linter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2670048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2670048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Still required for every atom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2980944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2980944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mobile support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63240" y="2980944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2980944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Separate effort (Dart)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2980944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2980944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Web only — mobile still from scratch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3291840"/>
            <a:ext cx="256032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3291840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binding (Figma vars)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063240" y="3291840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72968" y="3291840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100% bound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3291840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3291840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 Variables included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" y="3602736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" y="3602736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/ Code Connect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63240" y="3602736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72968" y="3602736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Not yet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3602736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3602736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Enterprise tier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2920" y="3913632"/>
            <a:ext cx="256032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" y="3913632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063240" y="3913632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72968" y="3913632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Not yet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17920" y="3913632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3913632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One-click dark mode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02920" y="4224528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" y="4224528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cost (team ~8 users)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063240" y="4224528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72968" y="4224528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ongoing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17920" y="4224528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4224528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~$1,400 one-time (Figma+React)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02920" y="4535424"/>
            <a:ext cx="256032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648" y="4535424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50 atoms (component)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063240" y="4535424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72968" y="4535424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wks (see note below)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217920" y="4535424"/>
            <a:ext cx="3154680" cy="301752"/>
          </a:xfrm>
          <a:prstGeom prst="rect">
            <a:avLst/>
          </a:prstGeom>
          <a:solidFill>
            <a:srgbClr val="F8FAFD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27648" y="4535424"/>
            <a:ext cx="2935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wks — UUI saves this step only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02920" y="4846320"/>
            <a:ext cx="83210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"Time to 50 atoms" for UUI = visual adaptation only. AI-readiness work (.docs.md, linter, variable binding) is the same for BOTH options and is NOT included in the UUI estimate.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Estimate: Build In-House vs. Adapt Untitled UI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atoms × ~10h avg ÷ 35 DS hrs/week (part-time team) = 14+ weeks. Complex atoms (Input, Table, Modal) take 3-4× longer than Button.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3977640" cy="347472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 (current approach)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691640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.docs.md spec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691640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 / atom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084832"/>
            <a:ext cx="3977640" cy="374904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08483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types + CVA styles + component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2084832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 / atom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478024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478024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ComponentSet + variable binding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18688" y="2478024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h / atom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71216"/>
            <a:ext cx="3977640" cy="374904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71216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doc + showcase frames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18688" y="2871216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 / atom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264408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26440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pass + 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18688" y="3264408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h / atom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3977640" cy="374904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57600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atom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18688" y="3657600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~6.5-13.5 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50792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05079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atoms (design+eng)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18688" y="4050792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wks @ 2 ppl (part-time)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443984"/>
            <a:ext cx="3977640" cy="374904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443984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harness (Phase 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18688" y="4443984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~4-5 weeks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298448"/>
            <a:ext cx="3977640" cy="34747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2984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Untitled UI (hybrid approach)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691640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1691640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remap: UUI → KDS Foundations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70064" y="1691640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days total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084832"/>
            <a:ext cx="3977640" cy="374904"/>
          </a:xfrm>
          <a:prstGeom prst="rect">
            <a:avLst/>
          </a:prstGeom>
          <a:solidFill>
            <a:srgbClr val="F0FFF6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208483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override (colors, radius, type)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70064" y="2084832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 total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478024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2478024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AI-ready .docs.md per atom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70064" y="2478024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0.5-1 h / atom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2871216"/>
            <a:ext cx="3977640" cy="374904"/>
          </a:xfrm>
          <a:prstGeom prst="rect">
            <a:avLst/>
          </a:prstGeom>
          <a:solidFill>
            <a:srgbClr val="F0FFF6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871216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+ CVA wiring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871216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 / atom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3264408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26440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doc + showcase frames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70064" y="3264408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 / atom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3657600"/>
            <a:ext cx="3977640" cy="374904"/>
          </a:xfrm>
          <a:prstGeom prst="rect">
            <a:avLst/>
          </a:prstGeom>
          <a:solidFill>
            <a:srgbClr val="F0FFF6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3657600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atom (after setup)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70064" y="3657600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~2.5-5 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4050792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9744" y="405079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atoms (setup + adapt)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70064" y="4050792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wks @ 2 ppl (part-time)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4443984"/>
            <a:ext cx="3977640" cy="374904"/>
          </a:xfrm>
          <a:prstGeom prst="rect">
            <a:avLst/>
          </a:prstGeom>
          <a:solidFill>
            <a:srgbClr val="F0FFF6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4443984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harness (Phase 2)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70064" y="4443984"/>
            <a:ext cx="1170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~2-3 weeks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2920" y="4773168"/>
            <a:ext cx="397764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" y="4773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 saves Steps 2-3 (component building) only. .docs.md + linter + token wiring = same effort for both.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4773168"/>
            <a:ext cx="397764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73168" y="4773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Mobile/Flutter is NOT covered by either option. Both paths need a separate Dart/Flutter token effort.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Design → Code Workflow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requirement to deployed component — one structured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916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691640"/>
            <a:ext cx="1261872" cy="64008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2037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64208" y="2039112"/>
            <a:ext cx="160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06854" y="16916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06854" y="1691640"/>
            <a:ext cx="1261872" cy="64008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5766" y="1783080"/>
            <a:ext cx="384048" cy="384048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576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06854" y="22037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Spec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.docs.md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87014" y="2039112"/>
            <a:ext cx="160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9661" y="16916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9661" y="1691640"/>
            <a:ext cx="1261872" cy="64008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68573" y="1783080"/>
            <a:ext cx="384048" cy="384048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8573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29661" y="22037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09821" y="2039112"/>
            <a:ext cx="160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52467" y="16916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52467" y="1691640"/>
            <a:ext cx="1261872" cy="6400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91379" y="1783080"/>
            <a:ext cx="384048" cy="384048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1379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52467" y="22037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32627" y="2039112"/>
            <a:ext cx="160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75274" y="16916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5274" y="1691640"/>
            <a:ext cx="1261872" cy="64008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4186" y="1783080"/>
            <a:ext cx="384048" cy="384048"/>
          </a:xfrm>
          <a:prstGeom prst="ellipse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418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75274" y="22037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+ Showcase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55434" y="2039112"/>
            <a:ext cx="160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7D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98080" y="16916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1691640"/>
            <a:ext cx="1261872" cy="64008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36992" y="1783080"/>
            <a:ext cx="384048" cy="384048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98080" y="22037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2907792"/>
            <a:ext cx="8138160" cy="310896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2907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participates at each step: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3255264"/>
            <a:ext cx="8138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2552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Spec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37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 the design, inspects old Figma layers, and writes a linter-passing .docs.md from scratch.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" y="3694176"/>
            <a:ext cx="8138160" cy="420624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36941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React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737360" y="369417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typed props (discriminated unions), CVA variant map, and forwardRef component from the spec.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4133088"/>
            <a:ext cx="8138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1330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Figma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737360" y="413308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a plugin script to create the ComponentSet, binding all 87+ KDS Foundations variables directly.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572000"/>
            <a:ext cx="8138160" cy="420624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45720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Doc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737360" y="457200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the documentation frame + showcase with instances — ready to present to the team.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Tooling Ecosystem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Figma, MCP, Storybook, Code Connect, Harness, and product context fit together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2697480" cy="347472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258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874520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71907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KDS Components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71907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231136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2386584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2311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Foundations Library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231136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74320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2898648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7432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Variables Bound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7432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255264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" y="3410712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25526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Doc Frames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25526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767328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3922776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767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Code Connect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376732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279392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4434840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42793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→ Storybook 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42793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1325880"/>
            <a:ext cx="2697480" cy="347472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13258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Layer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1719072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3008" y="1874520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0752" y="171907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CVA Components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171907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2231136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93008" y="2386584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22311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tokens.registry.json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2231136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274320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93008" y="2898648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0752" y="27432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Linter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57800" y="27432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83280" y="3255264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93008" y="3410712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0752" y="325526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57800" y="325526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93008" y="3922776"/>
            <a:ext cx="164592" cy="164592"/>
          </a:xfrm>
          <a:prstGeom prst="ellipse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0752" y="3767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 tokens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57800" y="376732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83280" y="4279392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93008" y="4434840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30752" y="42793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 publish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57800" y="42793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1325880"/>
            <a:ext cx="2697480" cy="34747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13258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Context Layer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263640" y="1719072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73368" y="1874520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11112" y="171907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Figma Plugin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38160" y="171907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63640" y="2231136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73368" y="2386584"/>
            <a:ext cx="164592" cy="164592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1112" y="22311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.docs.md AI format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138160" y="2231136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63640" y="274320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73368" y="2898648"/>
            <a:ext cx="164592" cy="164592"/>
          </a:xfrm>
          <a:prstGeom prst="ellipse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11112" y="27432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138160" y="27432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63640" y="3255264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73368" y="3410712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11112" y="325526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context rules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138160" y="325526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63640" y="3767328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73368" y="3922776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11112" y="3767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harness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138160" y="376732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63640" y="4279392"/>
            <a:ext cx="269748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73368" y="4434840"/>
            <a:ext cx="164592" cy="164592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11112" y="42793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/ Harness CI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138160" y="42793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Missing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KDS Direction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 — three options to align 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2670048" cy="3456432"/>
          </a:xfrm>
          <a:prstGeom prst="rect">
            <a:avLst/>
          </a:prstGeom>
          <a:solidFill>
            <a:srgbClr val="1C2E3D"/>
          </a:solidFill>
          <a:ln w="12700">
            <a:solidFill>
              <a:srgbClr val="2A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81328"/>
            <a:ext cx="2670048" cy="6400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609344"/>
            <a:ext cx="384048" cy="384048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204825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current KDS 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" y="25420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542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" y="28712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31272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KDS token semantic parity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" y="34015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Same .docs.md format works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" y="36758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Design → Dart same pipeline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" y="37673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" y="40050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Flutter token gap still exists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" y="424281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Need Dart equivalent of CVA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" y="448056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Slower: build from scratch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1481328"/>
            <a:ext cx="2670048" cy="3456432"/>
          </a:xfrm>
          <a:prstGeom prst="rect">
            <a:avLst/>
          </a:prstGeom>
          <a:solidFill>
            <a:srgbClr val="1C2E3D"/>
          </a:solidFill>
          <a:ln w="12700">
            <a:solidFill>
              <a:srgbClr val="2A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1481328"/>
            <a:ext cx="2670048" cy="64008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1609344"/>
            <a:ext cx="384048" cy="384048"/>
          </a:xfrm>
          <a:prstGeom prst="ellipse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65576" y="204825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Flutter Material 3 as base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65576" y="25420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2542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risk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65576" y="28712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65576" y="31272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Material tokens map well to KDS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65576" y="34015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Large community + AI training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65576" y="36758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Faster to first component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65576" y="37673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65576" y="40050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Kueski branding override required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65576" y="424281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M3 opinionated, may fight our tokens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65576" y="448056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Two token systems to maintain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08776" y="1481328"/>
            <a:ext cx="2670048" cy="3456432"/>
          </a:xfrm>
          <a:prstGeom prst="rect">
            <a:avLst/>
          </a:prstGeom>
          <a:solidFill>
            <a:srgbClr val="1C2E3D"/>
          </a:solidFill>
          <a:ln w="12700">
            <a:solidFill>
              <a:srgbClr val="2A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1481328"/>
            <a:ext cx="2670048" cy="64008"/>
          </a:xfrm>
          <a:prstGeom prst="rect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1609344"/>
            <a:ext cx="384048" cy="384048"/>
          </a:xfrm>
          <a:prstGeom prst="ellipse">
            <a:avLst/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18504" y="204825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Flutter DS (e.g. FlutterFlow)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18504" y="25420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82938"/>
          </a:solidFill>
          <a:ln w="12700">
            <a:solidFill>
              <a:srgbClr val="D829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2542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18504" y="28712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18504" y="31272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Visual drag-and-drop speed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18504" y="34015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Large component library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18504" y="36758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 prototyping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18504" y="37673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18504" y="40050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Lock-in risk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18504" y="424281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Poor AI-readability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18504" y="448056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aligned with web KDS approach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4828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Option A — extend KDS structure. Slower start, zero lock-in, full AI-readiness alignment.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KDS: 3 Strategic Options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decision is scope — control vs. speed vs.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8988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89888"/>
            <a:ext cx="73152" cy="1078992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737360"/>
            <a:ext cx="384048" cy="384048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481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100% in-house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8288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Kueski brand uniqueness and full AI-readiness control are top priority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2103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 token semantics, no override fights, AI-ready by default, 0 license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481328"/>
            <a:ext cx="2084832" cy="877824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4813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50 atoms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wks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578608"/>
            <a:ext cx="73152" cy="1078992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2926080"/>
            <a:ext cx="384048" cy="384048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Untitled UI as foundation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30175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speed to coverage matters more than complete brand 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3291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10k+ components immediately. AI can scaffold from existing library. Figma + React synced.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2670048"/>
            <a:ext cx="2084832" cy="877824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6700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50 atoms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301752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wks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02920" y="376732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767328"/>
            <a:ext cx="73152" cy="1078992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114800"/>
            <a:ext cx="384048" cy="384048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70432" y="3858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UUI for UI + KDS for DS logic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70432" y="42062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both: UUI for visual production, KDS for semantic token + AI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70432" y="4480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Speed for designers (UUI), correctness for AI (KDS .docs.md + linter). No lock-in.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3858768"/>
            <a:ext cx="2084832" cy="877824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8587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50 atoms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420624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wks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64592"/>
            <a:ext cx="91440" cy="91440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" y="164592"/>
            <a:ext cx="91440" cy="91440"/>
          </a:xfrm>
          <a:prstGeom prst="ellipse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64592"/>
            <a:ext cx="91440" cy="91440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· AI 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100% AI-Ready 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— first 100% done, next three needing alignment today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993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25880"/>
            <a:ext cx="1993392" cy="6400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4447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44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72184" y="1444752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72184" y="144475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" y="1737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" y="20665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" y="2322576"/>
            <a:ext cx="1773936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" y="2505456"/>
            <a:ext cx="128016" cy="128016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registry + linter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" y="3008376"/>
            <a:ext cx="128016" cy="128016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2916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Figma plugin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" y="3511296"/>
            <a:ext cx="128016" cy="128016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" y="3419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Foundations variables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" y="4014216"/>
            <a:ext cx="128016" cy="128016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3922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atoms (Button, Badge, Chip)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" y="4517136"/>
            <a:ext cx="128016" cy="128016"/>
          </a:xfrm>
          <a:prstGeom prst="ellipse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44256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docs.md Option B format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79192" y="1325880"/>
            <a:ext cx="1993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79192" y="1325880"/>
            <a:ext cx="1993392" cy="64008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70632" y="14447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1444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48456" y="1444752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0069F1">
              <a:alpha val="15000"/>
            </a:srgbClr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48456" y="144475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88920" y="1737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88920" y="20665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2322576"/>
            <a:ext cx="1773936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8920" y="2505456"/>
            <a:ext cx="128016" cy="128016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0088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atoms (web)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88920" y="3008376"/>
            <a:ext cx="128016" cy="128016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2916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harness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88920" y="3511296"/>
            <a:ext cx="128016" cy="128016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0088" y="3419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setup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88920" y="4014216"/>
            <a:ext cx="128016" cy="128016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3922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token foundation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88920" y="4517136"/>
            <a:ext cx="128016" cy="128016"/>
          </a:xfrm>
          <a:prstGeom prst="ellipse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0088" y="44256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Connect wiring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1325880"/>
            <a:ext cx="1993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55464" y="1325880"/>
            <a:ext cx="1993392" cy="64008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4447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444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24728" y="1444752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6E5BE6">
              <a:alpha val="15000"/>
            </a:srgbClr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24728" y="144475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65192" y="1737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965192" y="20665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2026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65192" y="2322576"/>
            <a:ext cx="1773936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65192" y="250545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66360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context rules layer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65192" y="300837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66360" y="2916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(~30)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65192" y="351129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66360" y="3419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token support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65192" y="401421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66360" y="3922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Multi-theme system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965192" y="451713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66360" y="44256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↔ Code CI sync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031736" y="1325880"/>
            <a:ext cx="1993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31736" y="1325880"/>
            <a:ext cx="1993392" cy="64008"/>
          </a:xfrm>
          <a:prstGeom prst="rect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23176" y="14447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23176" y="1444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001000" y="1444752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66727D">
              <a:alpha val="15000"/>
            </a:srgbClr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01000" y="144475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141464" y="1737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7141464" y="20665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141464" y="2322576"/>
            <a:ext cx="1773936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41464" y="250545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42632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scaffolds new components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141464" y="300837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42632" y="2916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Storybook + harness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41464" y="351129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42632" y="3419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organisms complete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41464" y="401421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42632" y="3922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auto-updates on token change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141464" y="4517136"/>
            <a:ext cx="128016" cy="128016"/>
          </a:xfrm>
          <a:prstGeom prst="ellipse">
            <a:avLst/>
          </a:prstGeom>
          <a:solidFill>
            <a:srgbClr val="66727D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42632" y="44256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contributing workflow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02920" y="4864608"/>
            <a:ext cx="1993392" cy="182880"/>
          </a:xfrm>
          <a:prstGeom prst="rect">
            <a:avLst/>
          </a:prstGeom>
          <a:solidFill>
            <a:srgbClr val="DDE8F2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2920" y="4864608"/>
            <a:ext cx="1993392" cy="182880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79192" y="4864608"/>
            <a:ext cx="1993392" cy="182880"/>
          </a:xfrm>
          <a:prstGeom prst="rect">
            <a:avLst/>
          </a:prstGeom>
          <a:solidFill>
            <a:srgbClr val="DDE8F2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679192" y="4864608"/>
            <a:ext cx="99670" cy="182880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55464" y="4864608"/>
            <a:ext cx="1993392" cy="182880"/>
          </a:xfrm>
          <a:prstGeom prst="rect">
            <a:avLst/>
          </a:prstGeom>
          <a:solidFill>
            <a:srgbClr val="DDE8F2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31736" y="4864608"/>
            <a:ext cx="1993392" cy="182880"/>
          </a:xfrm>
          <a:prstGeom prst="rect">
            <a:avLst/>
          </a:prstGeom>
          <a:solidFill>
            <a:srgbClr val="DDE8F2"/>
          </a:solidFill>
          <a:ln w="12700">
            <a:solidFill>
              <a:srgbClr val="DDE8F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TODAY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5953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Owners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22960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73152" cy="749808"/>
          </a:xfrm>
          <a:prstGeom prst="rect">
            <a:avLst/>
          </a:prstGeom>
          <a:solidFill>
            <a:srgbClr val="0069F1"/>
          </a:solidFill>
          <a:ln w="12700">
            <a:solidFill>
              <a:srgbClr val="0069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54480"/>
            <a:ext cx="384048" cy="384048"/>
          </a:xfrm>
          <a:prstGeom prst="ellipse">
            <a:avLst/>
          </a:prstGeom>
          <a:solidFill>
            <a:srgbClr val="1A2535"/>
          </a:solidFill>
          <a:ln w="25400">
            <a:solidFill>
              <a:srgbClr val="006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" y="1426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KDS direction: In-house, Untitled UI, or Hybrid?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" y="1810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Design Lead + Eng Lead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8105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By: This meeting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4560"/>
            <a:ext cx="822960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194560"/>
            <a:ext cx="73152" cy="749808"/>
          </a:xfrm>
          <a:prstGeom prst="rect">
            <a:avLst/>
          </a:prstGeom>
          <a:solidFill>
            <a:srgbClr val="6E5BE6"/>
          </a:solidFill>
          <a:ln w="12700">
            <a:solidFill>
              <a:srgbClr val="6E5B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377440"/>
            <a:ext cx="384048" cy="384048"/>
          </a:xfrm>
          <a:prstGeom prst="ellipse">
            <a:avLst/>
          </a:prstGeom>
          <a:solidFill>
            <a:srgbClr val="1A2535"/>
          </a:solidFill>
          <a:ln w="25400">
            <a:solidFill>
              <a:srgbClr val="6E5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" y="2249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KDS: Extend KDS structure or adopt Material 3?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" y="2633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Mobile Eng Lead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6334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By: This meeting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822960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17520"/>
            <a:ext cx="73152" cy="749808"/>
          </a:xfrm>
          <a:prstGeom prst="rect">
            <a:avLst/>
          </a:prstGeom>
          <a:solidFill>
            <a:srgbClr val="008246"/>
          </a:solidFill>
          <a:ln w="12700">
            <a:solidFill>
              <a:srgbClr val="0082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200400"/>
            <a:ext cx="384048" cy="384048"/>
          </a:xfrm>
          <a:prstGeom prst="ellipse">
            <a:avLst/>
          </a:prstGeom>
          <a:solidFill>
            <a:srgbClr val="1A2535"/>
          </a:solidFill>
          <a:ln w="25400">
            <a:solidFill>
              <a:srgbClr val="0082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" y="30723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+ Code Connect: Who owns? What timeline?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" y="34564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Lead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3456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By: Week of Jun 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840480"/>
            <a:ext cx="822960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840480"/>
            <a:ext cx="73152" cy="749808"/>
          </a:xfrm>
          <a:prstGeom prst="rect">
            <a:avLst/>
          </a:prstGeom>
          <a:solidFill>
            <a:srgbClr val="AB5D00"/>
          </a:solidFill>
          <a:ln w="12700">
            <a:solidFill>
              <a:srgbClr val="AB5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023360"/>
            <a:ext cx="384048" cy="384048"/>
          </a:xfrm>
          <a:prstGeom prst="ellipse">
            <a:avLst/>
          </a:prstGeom>
          <a:solidFill>
            <a:srgbClr val="1A2535"/>
          </a:solidFill>
          <a:ln w="25400">
            <a:solidFill>
              <a:srgbClr val="AB5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" y="38953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harness: Scope + resource assignment?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2144" y="4279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DS Lead + Product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42793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B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By: Week of Jun 30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KDS × AI Native — State of the System</dc:title>
  <dc:subject>PptxGenJS Presentation</dc:subject>
  <dc:creator>Katerine Dolzan</dc:creator>
  <cp:lastModifiedBy>Katerine Dolzan</cp:lastModifiedBy>
  <cp:revision>1</cp:revision>
  <dcterms:created xsi:type="dcterms:W3CDTF">2026-06-15T19:13:48Z</dcterms:created>
  <dcterms:modified xsi:type="dcterms:W3CDTF">2026-06-15T19:13:48Z</dcterms:modified>
</cp:coreProperties>
</file>